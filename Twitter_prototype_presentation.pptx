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98" r:id="rId5"/>
    <p:sldId id="300" r:id="rId6"/>
    <p:sldId id="301" r:id="rId7"/>
    <p:sldId id="302" r:id="rId8"/>
    <p:sldId id="303" r:id="rId9"/>
    <p:sldId id="304" r:id="rId10"/>
    <p:sldId id="305" r:id="rId11"/>
    <p:sldId id="306" r:id="rId12"/>
    <p:sldId id="309" r:id="rId13"/>
    <p:sldId id="307" r:id="rId14"/>
    <p:sldId id="30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19" autoAdjust="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3437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04659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2783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8359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3925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5433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393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1184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16137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>
            <a:duotone>
              <a:prstClr val="black"/>
              <a:schemeClr val="tx2">
                <a:tint val="45000"/>
                <a:satMod val="400000"/>
              </a:schemeClr>
            </a:duotone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6030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Franklin Gothic Book" panose="020F0502020204030204"/>
              <a:ea typeface="+mn-ea"/>
              <a:cs typeface="+mn-cs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5373426-E26E-431D-959C-5DB96C0B6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12607" y="1238442"/>
            <a:ext cx="3635926" cy="4355751"/>
          </a:xfrm>
          <a:prstGeom prst="rec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Franklin Gothic Book" panose="020F0502020204030204"/>
              <a:ea typeface="+mn-ea"/>
              <a:cs typeface="+mn-cs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6D07482-83A3-4451-943C-B46961082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76090" y="4508519"/>
            <a:ext cx="310896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EDC90921-9082-491B-940E-827D679F3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rgbClr val="262626">
              <a:alpha val="9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1E66382-2CB7-1E9B-58C9-D42124A172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830" y="0"/>
            <a:ext cx="1040489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439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C86D3-8FD1-4F47-A319-7D0542E48B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Introduction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DF36BE-5672-5551-E7D9-E481F3B24014}"/>
              </a:ext>
            </a:extLst>
          </p:cNvPr>
          <p:cNvSpPr txBox="1"/>
          <p:nvPr/>
        </p:nvSpPr>
        <p:spPr>
          <a:xfrm>
            <a:off x="1097280" y="2171700"/>
            <a:ext cx="10058400" cy="2537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H" dirty="0"/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73F77262-3FEB-CC05-9AE5-628A3636B4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108201"/>
            <a:ext cx="10058400" cy="3760891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is a prototype of a microblogging platform inspired by Twitter (X).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allows users to create short posts, interact with others, and view personalized content.</a:t>
            </a:r>
            <a:endParaRPr lang="en-GH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3514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6231E-6690-C37C-C05C-AFC8CEF99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E53C7-6626-7B9D-7D70-3BBA12950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 Of The Application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2CF63F-91A9-BC3E-1713-31217249121A}"/>
              </a:ext>
            </a:extLst>
          </p:cNvPr>
          <p:cNvSpPr txBox="1"/>
          <p:nvPr/>
        </p:nvSpPr>
        <p:spPr>
          <a:xfrm>
            <a:off x="1097280" y="2171700"/>
            <a:ext cx="10058400" cy="2537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H" dirty="0"/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717D4151-117E-78A2-4698-1FE38A7C48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108201"/>
            <a:ext cx="10058400" cy="3760891"/>
          </a:xfrm>
        </p:spPr>
        <p:txBody>
          <a:bodyPr>
            <a:normAutofit/>
          </a:bodyPr>
          <a:lstStyle/>
          <a:p>
            <a:r>
              <a:rPr lang="en-US" sz="3200" dirty="0"/>
              <a:t>Enable users to share short messages </a:t>
            </a:r>
          </a:p>
          <a:p>
            <a:r>
              <a:rPr lang="en-US" sz="3200" dirty="0"/>
              <a:t>Allow social interaction between users </a:t>
            </a:r>
          </a:p>
          <a:p>
            <a:r>
              <a:rPr lang="en-US" sz="3200" dirty="0"/>
              <a:t>Provide a personalized content feed </a:t>
            </a:r>
          </a:p>
          <a:p>
            <a:r>
              <a:rPr lang="en-US" sz="3200" dirty="0"/>
              <a:t>Demonstrate relational database design using PostgreSQL </a:t>
            </a:r>
          </a:p>
        </p:txBody>
      </p:sp>
    </p:spTree>
    <p:extLst>
      <p:ext uri="{BB962C8B-B14F-4D97-AF65-F5344CB8AC3E}">
        <p14:creationId xmlns:p14="http://schemas.microsoft.com/office/powerpoint/2010/main" val="2705224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99E5B-1570-2A29-97A6-F60BB1A23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A07CD-FBD9-CE12-04FF-3A84D1DC8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4800" dirty="0"/>
              <a:t>Core Features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C46681-7559-8606-A678-6F04ED03EDF3}"/>
              </a:ext>
            </a:extLst>
          </p:cNvPr>
          <p:cNvSpPr txBox="1"/>
          <p:nvPr/>
        </p:nvSpPr>
        <p:spPr>
          <a:xfrm>
            <a:off x="1097280" y="2171700"/>
            <a:ext cx="10058400" cy="2537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H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98FBE6F9-78CC-252C-3238-02396296FC4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96963" y="2465099"/>
            <a:ext cx="5032147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GH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en-GH" sz="1800" dirty="0">
                <a:solidFill>
                  <a:schemeClr val="tx1"/>
                </a:solidFill>
                <a:latin typeface="Arial" panose="020B0604020202020204" pitchFamily="34" charset="0"/>
              </a:rPr>
              <a:t>. </a:t>
            </a:r>
            <a:r>
              <a:rPr kumimoji="0" lang="en-GH" altLang="en-GH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 Registration &amp; Login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GH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kumimoji="0" lang="en-GH" altLang="en-GH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Create Posts (Tweets)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GH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kumimoji="0" lang="en-GH" altLang="en-GH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Follow / Unfollow Users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GH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kumimoji="0" lang="en-GH" altLang="en-GH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Like Posts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GH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5. </a:t>
            </a:r>
            <a:r>
              <a:rPr kumimoji="0" lang="en-GH" altLang="en-GH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Comment on Posts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GH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6. </a:t>
            </a:r>
            <a:r>
              <a:rPr kumimoji="0" lang="en-GH" altLang="en-GH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Personalized Timeline </a:t>
            </a:r>
          </a:p>
        </p:txBody>
      </p:sp>
    </p:spTree>
    <p:extLst>
      <p:ext uri="{BB962C8B-B14F-4D97-AF65-F5344CB8AC3E}">
        <p14:creationId xmlns:p14="http://schemas.microsoft.com/office/powerpoint/2010/main" val="1451084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28B44-8606-179E-F839-D6F0B2007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D400E-9CB1-D9D0-C307-06419D506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4800" dirty="0"/>
              <a:t>What the System Does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433B5F-5F91-747A-210D-518B64C2358C}"/>
              </a:ext>
            </a:extLst>
          </p:cNvPr>
          <p:cNvSpPr txBox="1"/>
          <p:nvPr/>
        </p:nvSpPr>
        <p:spPr>
          <a:xfrm>
            <a:off x="1097280" y="2171700"/>
            <a:ext cx="10058400" cy="2537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H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5C70DF0-3E63-6611-8930-88341EF9EF5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96963" y="2330702"/>
            <a:ext cx="6386685" cy="33157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 content 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Follow other users 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View posts from followed users 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 through likes and comments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GH" altLang="en-GH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8511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76861-0BD9-E9BA-BEEE-01B128E6E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9B7DC-E5DB-594C-C05D-692AB33AE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4800" dirty="0"/>
              <a:t>Technology Stack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87224D-1E9A-6EDA-7C23-100D92790418}"/>
              </a:ext>
            </a:extLst>
          </p:cNvPr>
          <p:cNvSpPr txBox="1"/>
          <p:nvPr/>
        </p:nvSpPr>
        <p:spPr>
          <a:xfrm>
            <a:off x="1097280" y="2171700"/>
            <a:ext cx="10058400" cy="2537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H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272AC081-EE63-1696-4FA5-8FEE172A5FF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96963" y="3203762"/>
            <a:ext cx="5894562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GH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Backend: Python (Flask/Django)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GH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Frontend: </a:t>
            </a:r>
            <a:r>
              <a:rPr lang="en-US" altLang="en-GH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HTML, CSS, JavaScript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GH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Database: PostgreSQL</a:t>
            </a:r>
            <a:endParaRPr kumimoji="0" lang="en-GH" altLang="en-GH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557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3299C-ACAD-8ADF-E27C-661743BBD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C53C9-9683-B035-597D-32F97AC93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193612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4800" dirty="0"/>
              <a:t>Database Overview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472831-0E64-BC63-3F56-6460C6EEF603}"/>
              </a:ext>
            </a:extLst>
          </p:cNvPr>
          <p:cNvSpPr txBox="1"/>
          <p:nvPr/>
        </p:nvSpPr>
        <p:spPr>
          <a:xfrm>
            <a:off x="1097280" y="2171700"/>
            <a:ext cx="10058400" cy="2537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H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2D45DC0E-4DE5-CCDD-B572-8D2231F9CE0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96963" y="1480215"/>
            <a:ext cx="8807219" cy="50167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n-US" altLang="en-GH" sz="3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GH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Using a relational database to store and manage data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GH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efficiently.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n-US" altLang="en-GH" sz="3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GH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Main Table: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GH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GH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Posts</a:t>
            </a:r>
            <a:br>
              <a:rPr kumimoji="0" lang="en-US" altLang="en-GH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GH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Follows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GH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Likes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GH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Comments</a:t>
            </a:r>
            <a:endParaRPr kumimoji="0" lang="en-GH" altLang="en-GH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2545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DF962-3C11-4014-F3E4-2D2557AA4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03FF0-23FB-61B7-6ABD-A6B295BD4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4800" dirty="0"/>
              <a:t>Relationships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8832A1-2529-D803-97DB-498B6B94ADE0}"/>
              </a:ext>
            </a:extLst>
          </p:cNvPr>
          <p:cNvSpPr txBox="1"/>
          <p:nvPr/>
        </p:nvSpPr>
        <p:spPr>
          <a:xfrm>
            <a:off x="1097280" y="2171700"/>
            <a:ext cx="10058400" cy="2537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H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BCF352ED-B59F-BC83-1896-8A660946426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96963" y="2711321"/>
            <a:ext cx="7550465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GH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One User </a:t>
            </a:r>
            <a:r>
              <a:rPr lang="en-US" altLang="en-GH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altLang="en-GH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Many Posts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GH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Users </a:t>
            </a:r>
            <a:r>
              <a:rPr lang="en-US" altLang="en-GH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Users ( Follow) Many to Many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GH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Users Posts (Likes) Many-to-Many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GH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One Post  Many Comments</a:t>
            </a:r>
            <a:endParaRPr lang="en-US" altLang="en-GH" sz="3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GH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3251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44482-3C30-B193-7C0E-4A63ED90F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99D17-1D8C-1801-F1C8-8FC316850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3192" y="290535"/>
            <a:ext cx="9054110" cy="658794"/>
          </a:xfrm>
        </p:spPr>
        <p:txBody>
          <a:bodyPr vert="horz" lIns="91440" tIns="45720" rIns="91440" bIns="45720" rtlCol="0">
            <a:normAutofit fontScale="90000"/>
          </a:bodyPr>
          <a:lstStyle/>
          <a:p>
            <a:r>
              <a:rPr lang="en-US" sz="4800" dirty="0"/>
              <a:t>ER Diagram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198874-18DF-D9A3-1685-4C9831C7CAA3}"/>
              </a:ext>
            </a:extLst>
          </p:cNvPr>
          <p:cNvSpPr txBox="1"/>
          <p:nvPr/>
        </p:nvSpPr>
        <p:spPr>
          <a:xfrm>
            <a:off x="1097280" y="2171700"/>
            <a:ext cx="10058400" cy="2537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H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CE7B9A-DAC0-1CAF-7BC3-8077B3FA11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006" y="24195"/>
            <a:ext cx="9580713" cy="6387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4529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6421E-4632-CC9D-A3CF-F9DBCBE4C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27F84-3644-DA47-EC3D-6293E0B70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4800" dirty="0"/>
              <a:t>Why PostgreSQL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309929-FE1F-8192-73F3-05311FE1387D}"/>
              </a:ext>
            </a:extLst>
          </p:cNvPr>
          <p:cNvSpPr txBox="1"/>
          <p:nvPr/>
        </p:nvSpPr>
        <p:spPr>
          <a:xfrm>
            <a:off x="1097280" y="2171700"/>
            <a:ext cx="10058400" cy="2537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H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BB8E6993-A670-764D-FE83-B32C60D81A4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97280" y="2171700"/>
            <a:ext cx="6362639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GH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Strong data integrity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GH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Supports relationships ( foreign keys)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GH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Handles complex queries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GH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Scalable for real world applications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GH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5458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1FDA5-02F2-0E3E-FB46-9B0683375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43558-1636-FDA0-484A-B706DA1E7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4800" dirty="0"/>
              <a:t>Conclusion</a:t>
            </a:r>
            <a:endParaRPr 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5003B9-5B1E-7A95-AAEF-E9215DAE9D40}"/>
              </a:ext>
            </a:extLst>
          </p:cNvPr>
          <p:cNvSpPr txBox="1"/>
          <p:nvPr/>
        </p:nvSpPr>
        <p:spPr>
          <a:xfrm>
            <a:off x="1036320" y="1737360"/>
            <a:ext cx="10058400" cy="2537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H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82A228D4-24EE-63CC-63E9-19036338982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36320" y="2403287"/>
            <a:ext cx="10687541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GH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demonstrates how a social media system can be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GH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designed using relational database, focusing on user interaction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GH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structured data relationships</a:t>
            </a:r>
          </a:p>
        </p:txBody>
      </p:sp>
    </p:spTree>
    <p:extLst>
      <p:ext uri="{BB962C8B-B14F-4D97-AF65-F5344CB8AC3E}">
        <p14:creationId xmlns:p14="http://schemas.microsoft.com/office/powerpoint/2010/main" val="4119092677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34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EC7016"/>
      </a:accent1>
      <a:accent2>
        <a:srgbClr val="F8931D"/>
      </a:accent2>
      <a:accent3>
        <a:srgbClr val="CE8D3E"/>
      </a:accent3>
      <a:accent4>
        <a:srgbClr val="E64823"/>
      </a:accent4>
      <a:accent5>
        <a:srgbClr val="FFCA08"/>
      </a:accent5>
      <a:accent6>
        <a:srgbClr val="9C6A6A"/>
      </a:accent6>
      <a:hlink>
        <a:srgbClr val="2998E3"/>
      </a:hlink>
      <a:folHlink>
        <a:srgbClr val="7F723D"/>
      </a:folHlink>
    </a:clrScheme>
    <a:fontScheme name="Retrospect">
      <a:majorFont>
        <a:latin typeface="Bookman Old Style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VTI" id="{F5B7AB07-F859-4656-A1C1-DAFCFA0ACA4B}" vid="{A6E2497D-935A-4CFD-B9FD-6DCB15FA68BF}"/>
    </a:ext>
  </a:extLst>
</a:theme>
</file>

<file path=ppt/theme/themeOverride1.xml><?xml version="1.0" encoding="utf-8"?>
<a:themeOverride xmlns:a="http://schemas.openxmlformats.org/drawingml/2006/main">
  <a:clrScheme name="Parcel">
    <a:dk1>
      <a:srgbClr val="000000"/>
    </a:dk1>
    <a:lt1>
      <a:srgbClr val="FFFFFF"/>
    </a:lt1>
    <a:dk2>
      <a:srgbClr val="4A5356"/>
    </a:dk2>
    <a:lt2>
      <a:srgbClr val="E8E3CE"/>
    </a:lt2>
    <a:accent1>
      <a:srgbClr val="F6A21D"/>
    </a:accent1>
    <a:accent2>
      <a:srgbClr val="9BAFB5"/>
    </a:accent2>
    <a:accent3>
      <a:srgbClr val="C96731"/>
    </a:accent3>
    <a:accent4>
      <a:srgbClr val="9CA383"/>
    </a:accent4>
    <a:accent5>
      <a:srgbClr val="87795D"/>
    </a:accent5>
    <a:accent6>
      <a:srgbClr val="A0988C"/>
    </a:accent6>
    <a:hlink>
      <a:srgbClr val="00B0F0"/>
    </a:hlink>
    <a:folHlink>
      <a:srgbClr val="738F97"/>
    </a:folHlink>
  </a:clrScheme>
</a:themeOverride>
</file>

<file path=ppt/theme/themeOverride2.xml><?xml version="1.0" encoding="utf-8"?>
<a:themeOverride xmlns:a="http://schemas.openxmlformats.org/drawingml/2006/main">
  <a:clrScheme name="Parcel">
    <a:dk1>
      <a:srgbClr val="000000"/>
    </a:dk1>
    <a:lt1>
      <a:srgbClr val="FFFFFF"/>
    </a:lt1>
    <a:dk2>
      <a:srgbClr val="4A5356"/>
    </a:dk2>
    <a:lt2>
      <a:srgbClr val="E8E3CE"/>
    </a:lt2>
    <a:accent1>
      <a:srgbClr val="F6A21D"/>
    </a:accent1>
    <a:accent2>
      <a:srgbClr val="9BAFB5"/>
    </a:accent2>
    <a:accent3>
      <a:srgbClr val="C96731"/>
    </a:accent3>
    <a:accent4>
      <a:srgbClr val="9CA383"/>
    </a:accent4>
    <a:accent5>
      <a:srgbClr val="87795D"/>
    </a:accent5>
    <a:accent6>
      <a:srgbClr val="A0988C"/>
    </a:accent6>
    <a:hlink>
      <a:srgbClr val="00B0F0"/>
    </a:hlink>
    <a:folHlink>
      <a:srgbClr val="738F97"/>
    </a:folHlink>
  </a:clrScheme>
</a:themeOverride>
</file>

<file path=ppt/theme/themeOverride3.xml><?xml version="1.0" encoding="utf-8"?>
<a:themeOverride xmlns:a="http://schemas.openxmlformats.org/drawingml/2006/main">
  <a:clrScheme name="Parcel">
    <a:dk1>
      <a:srgbClr val="000000"/>
    </a:dk1>
    <a:lt1>
      <a:srgbClr val="FFFFFF"/>
    </a:lt1>
    <a:dk2>
      <a:srgbClr val="4A5356"/>
    </a:dk2>
    <a:lt2>
      <a:srgbClr val="E8E3CE"/>
    </a:lt2>
    <a:accent1>
      <a:srgbClr val="F6A21D"/>
    </a:accent1>
    <a:accent2>
      <a:srgbClr val="9BAFB5"/>
    </a:accent2>
    <a:accent3>
      <a:srgbClr val="C96731"/>
    </a:accent3>
    <a:accent4>
      <a:srgbClr val="9CA383"/>
    </a:accent4>
    <a:accent5>
      <a:srgbClr val="87795D"/>
    </a:accent5>
    <a:accent6>
      <a:srgbClr val="A0988C"/>
    </a:accent6>
    <a:hlink>
      <a:srgbClr val="00B0F0"/>
    </a:hlink>
    <a:folHlink>
      <a:srgbClr val="738F97"/>
    </a:folHlink>
  </a:clrScheme>
</a:themeOverride>
</file>

<file path=ppt/theme/themeOverride4.xml><?xml version="1.0" encoding="utf-8"?>
<a:themeOverride xmlns:a="http://schemas.openxmlformats.org/drawingml/2006/main">
  <a:clrScheme name="Parcel">
    <a:dk1>
      <a:srgbClr val="000000"/>
    </a:dk1>
    <a:lt1>
      <a:srgbClr val="FFFFFF"/>
    </a:lt1>
    <a:dk2>
      <a:srgbClr val="4A5356"/>
    </a:dk2>
    <a:lt2>
      <a:srgbClr val="E8E3CE"/>
    </a:lt2>
    <a:accent1>
      <a:srgbClr val="F6A21D"/>
    </a:accent1>
    <a:accent2>
      <a:srgbClr val="9BAFB5"/>
    </a:accent2>
    <a:accent3>
      <a:srgbClr val="C96731"/>
    </a:accent3>
    <a:accent4>
      <a:srgbClr val="9CA383"/>
    </a:accent4>
    <a:accent5>
      <a:srgbClr val="87795D"/>
    </a:accent5>
    <a:accent6>
      <a:srgbClr val="A0988C"/>
    </a:accent6>
    <a:hlink>
      <a:srgbClr val="00B0F0"/>
    </a:hlink>
    <a:folHlink>
      <a:srgbClr val="738F97"/>
    </a:folHlink>
  </a:clrScheme>
</a:themeOverride>
</file>

<file path=ppt/theme/themeOverride5.xml><?xml version="1.0" encoding="utf-8"?>
<a:themeOverride xmlns:a="http://schemas.openxmlformats.org/drawingml/2006/main">
  <a:clrScheme name="Parcel">
    <a:dk1>
      <a:srgbClr val="000000"/>
    </a:dk1>
    <a:lt1>
      <a:srgbClr val="FFFFFF"/>
    </a:lt1>
    <a:dk2>
      <a:srgbClr val="4A5356"/>
    </a:dk2>
    <a:lt2>
      <a:srgbClr val="E8E3CE"/>
    </a:lt2>
    <a:accent1>
      <a:srgbClr val="F6A21D"/>
    </a:accent1>
    <a:accent2>
      <a:srgbClr val="9BAFB5"/>
    </a:accent2>
    <a:accent3>
      <a:srgbClr val="C96731"/>
    </a:accent3>
    <a:accent4>
      <a:srgbClr val="9CA383"/>
    </a:accent4>
    <a:accent5>
      <a:srgbClr val="87795D"/>
    </a:accent5>
    <a:accent6>
      <a:srgbClr val="A0988C"/>
    </a:accent6>
    <a:hlink>
      <a:srgbClr val="00B0F0"/>
    </a:hlink>
    <a:folHlink>
      <a:srgbClr val="738F97"/>
    </a:folHlink>
  </a:clrScheme>
</a:themeOverride>
</file>

<file path=ppt/theme/themeOverride6.xml><?xml version="1.0" encoding="utf-8"?>
<a:themeOverride xmlns:a="http://schemas.openxmlformats.org/drawingml/2006/main">
  <a:clrScheme name="Parcel">
    <a:dk1>
      <a:srgbClr val="000000"/>
    </a:dk1>
    <a:lt1>
      <a:srgbClr val="FFFFFF"/>
    </a:lt1>
    <a:dk2>
      <a:srgbClr val="4A5356"/>
    </a:dk2>
    <a:lt2>
      <a:srgbClr val="E8E3CE"/>
    </a:lt2>
    <a:accent1>
      <a:srgbClr val="F6A21D"/>
    </a:accent1>
    <a:accent2>
      <a:srgbClr val="9BAFB5"/>
    </a:accent2>
    <a:accent3>
      <a:srgbClr val="C96731"/>
    </a:accent3>
    <a:accent4>
      <a:srgbClr val="9CA383"/>
    </a:accent4>
    <a:accent5>
      <a:srgbClr val="87795D"/>
    </a:accent5>
    <a:accent6>
      <a:srgbClr val="A0988C"/>
    </a:accent6>
    <a:hlink>
      <a:srgbClr val="00B0F0"/>
    </a:hlink>
    <a:folHlink>
      <a:srgbClr val="738F97"/>
    </a:folHlink>
  </a:clrScheme>
</a:themeOverride>
</file>

<file path=ppt/theme/themeOverride7.xml><?xml version="1.0" encoding="utf-8"?>
<a:themeOverride xmlns:a="http://schemas.openxmlformats.org/drawingml/2006/main">
  <a:clrScheme name="Parcel">
    <a:dk1>
      <a:srgbClr val="000000"/>
    </a:dk1>
    <a:lt1>
      <a:srgbClr val="FFFFFF"/>
    </a:lt1>
    <a:dk2>
      <a:srgbClr val="4A5356"/>
    </a:dk2>
    <a:lt2>
      <a:srgbClr val="E8E3CE"/>
    </a:lt2>
    <a:accent1>
      <a:srgbClr val="F6A21D"/>
    </a:accent1>
    <a:accent2>
      <a:srgbClr val="9BAFB5"/>
    </a:accent2>
    <a:accent3>
      <a:srgbClr val="C96731"/>
    </a:accent3>
    <a:accent4>
      <a:srgbClr val="9CA383"/>
    </a:accent4>
    <a:accent5>
      <a:srgbClr val="87795D"/>
    </a:accent5>
    <a:accent6>
      <a:srgbClr val="A0988C"/>
    </a:accent6>
    <a:hlink>
      <a:srgbClr val="00B0F0"/>
    </a:hlink>
    <a:folHlink>
      <a:srgbClr val="738F97"/>
    </a:folHlink>
  </a:clrScheme>
</a:themeOverride>
</file>

<file path=ppt/theme/themeOverride8.xml><?xml version="1.0" encoding="utf-8"?>
<a:themeOverride xmlns:a="http://schemas.openxmlformats.org/drawingml/2006/main">
  <a:clrScheme name="Parcel">
    <a:dk1>
      <a:srgbClr val="000000"/>
    </a:dk1>
    <a:lt1>
      <a:srgbClr val="FFFFFF"/>
    </a:lt1>
    <a:dk2>
      <a:srgbClr val="4A5356"/>
    </a:dk2>
    <a:lt2>
      <a:srgbClr val="E8E3CE"/>
    </a:lt2>
    <a:accent1>
      <a:srgbClr val="F6A21D"/>
    </a:accent1>
    <a:accent2>
      <a:srgbClr val="9BAFB5"/>
    </a:accent2>
    <a:accent3>
      <a:srgbClr val="C96731"/>
    </a:accent3>
    <a:accent4>
      <a:srgbClr val="9CA383"/>
    </a:accent4>
    <a:accent5>
      <a:srgbClr val="87795D"/>
    </a:accent5>
    <a:accent6>
      <a:srgbClr val="A0988C"/>
    </a:accent6>
    <a:hlink>
      <a:srgbClr val="00B0F0"/>
    </a:hlink>
    <a:folHlink>
      <a:srgbClr val="738F97"/>
    </a:folHlink>
  </a:clrScheme>
</a:themeOverride>
</file>

<file path=ppt/theme/themeOverride9.xml><?xml version="1.0" encoding="utf-8"?>
<a:themeOverride xmlns:a="http://schemas.openxmlformats.org/drawingml/2006/main">
  <a:clrScheme name="Parcel">
    <a:dk1>
      <a:srgbClr val="000000"/>
    </a:dk1>
    <a:lt1>
      <a:srgbClr val="FFFFFF"/>
    </a:lt1>
    <a:dk2>
      <a:srgbClr val="4A5356"/>
    </a:dk2>
    <a:lt2>
      <a:srgbClr val="E8E3CE"/>
    </a:lt2>
    <a:accent1>
      <a:srgbClr val="F6A21D"/>
    </a:accent1>
    <a:accent2>
      <a:srgbClr val="9BAFB5"/>
    </a:accent2>
    <a:accent3>
      <a:srgbClr val="C96731"/>
    </a:accent3>
    <a:accent4>
      <a:srgbClr val="9CA383"/>
    </a:accent4>
    <a:accent5>
      <a:srgbClr val="87795D"/>
    </a:accent5>
    <a:accent6>
      <a:srgbClr val="A0988C"/>
    </a:accent6>
    <a:hlink>
      <a:srgbClr val="00B0F0"/>
    </a:hlink>
    <a:folHlink>
      <a:srgbClr val="738F97"/>
    </a:folHlink>
  </a:clrScheme>
</a:themeOverride>
</file>

<file path=ppt/theme/themeOverride10.xml><?xml version="1.0" encoding="utf-8"?>
<a:themeOverride xmlns:a="http://schemas.openxmlformats.org/drawingml/2006/main">
  <a:clrScheme name="Parcel">
    <a:dk1>
      <a:srgbClr val="000000"/>
    </a:dk1>
    <a:lt1>
      <a:srgbClr val="FFFFFF"/>
    </a:lt1>
    <a:dk2>
      <a:srgbClr val="4A5356"/>
    </a:dk2>
    <a:lt2>
      <a:srgbClr val="E8E3CE"/>
    </a:lt2>
    <a:accent1>
      <a:srgbClr val="F6A21D"/>
    </a:accent1>
    <a:accent2>
      <a:srgbClr val="9BAFB5"/>
    </a:accent2>
    <a:accent3>
      <a:srgbClr val="C96731"/>
    </a:accent3>
    <a:accent4>
      <a:srgbClr val="9CA383"/>
    </a:accent4>
    <a:accent5>
      <a:srgbClr val="87795D"/>
    </a:accent5>
    <a:accent6>
      <a:srgbClr val="A0988C"/>
    </a:accent6>
    <a:hlink>
      <a:srgbClr val="00B0F0"/>
    </a:hlink>
    <a:folHlink>
      <a:srgbClr val="738F97"/>
    </a:folHlink>
  </a:clrScheme>
</a:themeOverride>
</file>

<file path=ppt/theme/themeOverride11.xml><?xml version="1.0" encoding="utf-8"?>
<a:themeOverride xmlns:a="http://schemas.openxmlformats.org/drawingml/2006/main">
  <a:clrScheme name="Parcel">
    <a:dk1>
      <a:srgbClr val="000000"/>
    </a:dk1>
    <a:lt1>
      <a:srgbClr val="FFFFFF"/>
    </a:lt1>
    <a:dk2>
      <a:srgbClr val="4A5356"/>
    </a:dk2>
    <a:lt2>
      <a:srgbClr val="E8E3CE"/>
    </a:lt2>
    <a:accent1>
      <a:srgbClr val="F6A21D"/>
    </a:accent1>
    <a:accent2>
      <a:srgbClr val="9BAFB5"/>
    </a:accent2>
    <a:accent3>
      <a:srgbClr val="C96731"/>
    </a:accent3>
    <a:accent4>
      <a:srgbClr val="9CA383"/>
    </a:accent4>
    <a:accent5>
      <a:srgbClr val="87795D"/>
    </a:accent5>
    <a:accent6>
      <a:srgbClr val="A0988C"/>
    </a:accent6>
    <a:hlink>
      <a:srgbClr val="00B0F0"/>
    </a:hlink>
    <a:folHlink>
      <a:srgbClr val="738F97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Props1.xml><?xml version="1.0" encoding="utf-8"?>
<ds:datastoreItem xmlns:ds="http://schemas.openxmlformats.org/officeDocument/2006/customXml" ds:itemID="{D2957789-34B8-480C-AF9B-3EB54B9E5C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A3F7EDC-E5B4-4BBC-9D2A-CBE6D46C37A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03EEFF0-FB57-4CB4-8BFC-DF397689E2ED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{20853D68-7B2E-4630-BFD0-0C727643FA3E}TFb63a7776-4452-49b2-8055-21efce632b726e3c8758_win32-7d1db0309ca7</Template>
  <TotalTime>4269</TotalTime>
  <Words>229</Words>
  <Application>Microsoft Office PowerPoint</Application>
  <PresentationFormat>Widescreen</PresentationFormat>
  <Paragraphs>48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Bookman Old Style</vt:lpstr>
      <vt:lpstr>Calibri</vt:lpstr>
      <vt:lpstr>Franklin Gothic Book</vt:lpstr>
      <vt:lpstr>Times New Roman</vt:lpstr>
      <vt:lpstr>Custom</vt:lpstr>
      <vt:lpstr>PowerPoint Presentation</vt:lpstr>
      <vt:lpstr>Introduction</vt:lpstr>
      <vt:lpstr>Purpose Of The Application</vt:lpstr>
      <vt:lpstr>Core Features</vt:lpstr>
      <vt:lpstr>What the System Does</vt:lpstr>
      <vt:lpstr>Technology Stack</vt:lpstr>
      <vt:lpstr>Database Overview</vt:lpstr>
      <vt:lpstr>Relationships</vt:lpstr>
      <vt:lpstr>ER Diagram</vt:lpstr>
      <vt:lpstr>Why PostgreSQL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Mohammed Abdul-Wadud Gbeadese</dc:creator>
  <cp:lastModifiedBy>Mohammed Abdul-Wadud Gbeadese</cp:lastModifiedBy>
  <cp:revision>2</cp:revision>
  <dcterms:created xsi:type="dcterms:W3CDTF">2026-04-25T10:43:48Z</dcterms:created>
  <dcterms:modified xsi:type="dcterms:W3CDTF">2026-04-28T17:15:44Z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